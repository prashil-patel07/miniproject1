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Gowun Batang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GowunBatang-bold.fntdata"/><Relationship Id="rId16" Type="http://schemas.openxmlformats.org/officeDocument/2006/relationships/font" Target="fonts/GowunBatang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3875ebcab0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3875ebcab0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Introduction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Why i chose this dataset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Interest, been </a:t>
            </a:r>
            <a:r>
              <a:rPr lang="en"/>
              <a:t>around</a:t>
            </a:r>
            <a:r>
              <a:rPr lang="en"/>
              <a:t> it since growing up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Everyone has experienced at some point in life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One of my major, if only hobby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3875ebcab0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3875ebcab0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Quick overview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Main overview - Business Problem and dataset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Business Question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Hypothesis generated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Methods, results and findings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1 sided t-test using sampling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Data Cleaning &amp; Wrangling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EDA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Final Conclusion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Bonus graph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Future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38cac61c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38cac61c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Business Problem: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Determine if games made/released in 2001-2010 are rated higher by players compared to release dates in 2011-2020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Helps future games make a better investment when creating new games.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Gives game designers an idea of market preferences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Dataset Overview: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Scrapped from backloggd using package called Beautiful Soup.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1512 Samples, 13 Features, (title, release year, release date, team, rating, genre) Features Used and why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*Beautiful Soup is a web page scraping tool package available in python which simplifies HTML and XML parsing.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38cac61c5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38cac61c5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Business Question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Games released between 2001-2010 have a better player rating compared to games from 2011-2020 from backloggd.com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Hypothesis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Null: no significant difference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Alternative: 2001-2010 significantly higher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What we’re </a:t>
            </a:r>
            <a:r>
              <a:rPr lang="en"/>
              <a:t>looking for means (how it helps answer our question):</a:t>
            </a:r>
            <a:endParaRPr/>
          </a:p>
          <a:p>
            <a:pPr indent="-298450" lvl="3" marL="18288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If we get null, we can look at all the data</a:t>
            </a:r>
            <a:endParaRPr/>
          </a:p>
          <a:p>
            <a:pPr indent="-298450" lvl="3" marL="18288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If we get alternative, we should look at games in 2001-2010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38cac61c5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38cac61c5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Data was grouped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Data was not </a:t>
            </a:r>
            <a:r>
              <a:rPr lang="en"/>
              <a:t>originally</a:t>
            </a:r>
            <a:r>
              <a:rPr lang="en"/>
              <a:t> distributed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Took a sample of 100 from each group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Used a one sided t-test as im looking for only the bigger ratings, not either or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T-test: 2.52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P-value: 0.006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T-test is big hence it suggests a noticeable difference in rating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 confirm this with P-value and alpha of 0.05 (95%)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 </a:t>
            </a:r>
            <a:r>
              <a:rPr lang="en"/>
              <a:t>value is smaller than our alpha hence we strongly reject the null hypothesis in favour of the alternative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3875ebcab0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3875ebcab0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During my data discovery found alot of issues to change: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Release date wrong type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Missing values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Catched genres not showing as null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Found duplicate rows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Changed release date to date/time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Removed release date rows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Changed Team null value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Filled ratings with mean values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Did not touch summary as not of importance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Rows with missing genre dropped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Duplicate rows </a:t>
            </a:r>
            <a:r>
              <a:rPr lang="en"/>
              <a:t>dropped (could bias data)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3875ebcab0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3875ebcab0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Histogram plots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First graph: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data of ratings is between 3-4.25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Highest Peak at 4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Lowest at 1.5, max at 4.5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Second Graph: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Data is more spread but still around 3-4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Peak at 3.5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Lowest at 2, highest at 4.5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Box plot for better comparison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50% of data is between 3.5-4.0, mean closer to 4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50% of data between 3.4-3.9, </a:t>
            </a:r>
            <a:r>
              <a:rPr lang="en">
                <a:solidFill>
                  <a:schemeClr val="dk1"/>
                </a:solidFill>
              </a:rPr>
              <a:t>mean</a:t>
            </a:r>
            <a:r>
              <a:rPr lang="en">
                <a:solidFill>
                  <a:schemeClr val="dk1"/>
                </a:solidFill>
              </a:rPr>
              <a:t> closer to 3.5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3875ebcab0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3875ebcab0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 have strong evidence that games released in 2001-2010 are rated higher compared to games released in 2011-2020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Companies should look at older concepts and implement them in games to create potentially better </a:t>
            </a:r>
            <a:r>
              <a:rPr lang="en"/>
              <a:t>revenue</a:t>
            </a:r>
            <a:r>
              <a:rPr lang="en"/>
              <a:t> and better rated games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Could be due to simplicity sakes from personal experience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3875ebcab0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3875ebcab0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Just as a bonus i thought id look at the most common genres from the games and also the team that produced the most games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Keeping in mind, more than one genre and team fit a single game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38cac61c5f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38cac61c5f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Future things id like to take in </a:t>
            </a:r>
            <a:r>
              <a:rPr lang="en"/>
              <a:t>consideration</a:t>
            </a:r>
            <a:r>
              <a:rPr lang="en"/>
              <a:t> and add in my analysis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Fill null genre </a:t>
            </a:r>
            <a:r>
              <a:rPr lang="en"/>
              <a:t>values</a:t>
            </a:r>
            <a:r>
              <a:rPr lang="en"/>
              <a:t> using previous iterations of games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FIll null rating values with mean values from same genres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with header and footer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body"/>
          </p:nvPr>
        </p:nvSpPr>
        <p:spPr>
          <a:xfrm>
            <a:off x="228600" y="2856025"/>
            <a:ext cx="18894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2" type="body"/>
          </p:nvPr>
        </p:nvSpPr>
        <p:spPr>
          <a:xfrm>
            <a:off x="2286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5" name="Google Shape;15;p2"/>
          <p:cNvSpPr txBox="1"/>
          <p:nvPr>
            <p:ph idx="4" type="body"/>
          </p:nvPr>
        </p:nvSpPr>
        <p:spPr>
          <a:xfrm>
            <a:off x="2400300" y="2856025"/>
            <a:ext cx="18894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5" type="body"/>
          </p:nvPr>
        </p:nvSpPr>
        <p:spPr>
          <a:xfrm>
            <a:off x="24003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6" type="body"/>
          </p:nvPr>
        </p:nvSpPr>
        <p:spPr>
          <a:xfrm>
            <a:off x="45720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7" type="body"/>
          </p:nvPr>
        </p:nvSpPr>
        <p:spPr>
          <a:xfrm>
            <a:off x="67437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44">
          <p15:clr>
            <a:srgbClr val="E46962"/>
          </p15:clr>
        </p15:guide>
        <p15:guide id="4" pos="1512">
          <p15:clr>
            <a:srgbClr val="E46962"/>
          </p15:clr>
        </p15:guide>
        <p15:guide id="5" pos="4248">
          <p15:clr>
            <a:srgbClr val="E46962"/>
          </p15:clr>
        </p15:guide>
        <p15:guide id="6" pos="5616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cxnSp>
        <p:nvCxnSpPr>
          <p:cNvPr id="23" name="Google Shape;23;p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228600" y="2866225"/>
            <a:ext cx="62328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44">
          <p15:clr>
            <a:srgbClr val="E46962"/>
          </p15:clr>
        </p15:guide>
        <p15:guide id="4" pos="1512">
          <p15:clr>
            <a:srgbClr val="E46962"/>
          </p15:clr>
        </p15:guide>
        <p15:guide id="5" pos="4248">
          <p15:clr>
            <a:srgbClr val="E46962"/>
          </p15:clr>
        </p15:guide>
        <p15:guide id="6" pos="5616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28600" y="2856025"/>
            <a:ext cx="18894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4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cxnSp>
        <p:nvCxnSpPr>
          <p:cNvPr id="29" name="Google Shape;29;p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44">
          <p15:clr>
            <a:srgbClr val="E46962"/>
          </p15:clr>
        </p15:guide>
        <p15:guide id="4" pos="1512">
          <p15:clr>
            <a:srgbClr val="E46962"/>
          </p15:clr>
        </p15:guide>
        <p15:guide id="5" pos="4248">
          <p15:clr>
            <a:srgbClr val="E46962"/>
          </p15:clr>
        </p15:guide>
        <p15:guide id="6" pos="5616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5"/>
          <p:cNvSpPr txBox="1"/>
          <p:nvPr>
            <p:ph idx="1" type="subTitle"/>
          </p:nvPr>
        </p:nvSpPr>
        <p:spPr>
          <a:xfrm>
            <a:off x="228600" y="167750"/>
            <a:ext cx="5257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34" name="Google Shape;34;p5"/>
          <p:cNvCxnSpPr/>
          <p:nvPr/>
        </p:nvCxnSpPr>
        <p:spPr>
          <a:xfrm>
            <a:off x="228600" y="478125"/>
            <a:ext cx="868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" name="Google Shape;35;p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3456">
          <p15:clr>
            <a:srgbClr val="E46962"/>
          </p15:clr>
        </p15:guide>
        <p15:guide id="2" pos="4752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ate sheet" type="tx">
  <p:cSld name="TITLE_AND_BOD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229450" y="164350"/>
            <a:ext cx="8686800" cy="4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subTitle"/>
          </p:nvPr>
        </p:nvSpPr>
        <p:spPr>
          <a:xfrm>
            <a:off x="228600" y="1213525"/>
            <a:ext cx="27282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41" name="Google Shape;41;p6"/>
          <p:cNvSpPr txBox="1"/>
          <p:nvPr>
            <p:ph idx="3" type="subTitle"/>
          </p:nvPr>
        </p:nvSpPr>
        <p:spPr>
          <a:xfrm>
            <a:off x="3207900" y="1213525"/>
            <a:ext cx="27282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42" name="Google Shape;42;p6"/>
          <p:cNvSpPr txBox="1"/>
          <p:nvPr>
            <p:ph idx="4" type="subTitle"/>
          </p:nvPr>
        </p:nvSpPr>
        <p:spPr>
          <a:xfrm>
            <a:off x="6187200" y="1213525"/>
            <a:ext cx="27282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cxnSp>
        <p:nvCxnSpPr>
          <p:cNvPr id="43" name="Google Shape;43;p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with footer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2294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2" type="subTitle"/>
          </p:nvPr>
        </p:nvSpPr>
        <p:spPr>
          <a:xfrm>
            <a:off x="2294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49" name="Google Shape;49;p7"/>
          <p:cNvSpPr txBox="1"/>
          <p:nvPr>
            <p:ph idx="3" type="body"/>
          </p:nvPr>
        </p:nvSpPr>
        <p:spPr>
          <a:xfrm>
            <a:off x="315580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4" type="subTitle"/>
          </p:nvPr>
        </p:nvSpPr>
        <p:spPr>
          <a:xfrm>
            <a:off x="315580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51" name="Google Shape;51;p7"/>
          <p:cNvSpPr txBox="1"/>
          <p:nvPr>
            <p:ph idx="5" type="body"/>
          </p:nvPr>
        </p:nvSpPr>
        <p:spPr>
          <a:xfrm>
            <a:off x="60821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6" type="subTitle"/>
          </p:nvPr>
        </p:nvSpPr>
        <p:spPr>
          <a:xfrm>
            <a:off x="60821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53" name="Google Shape;53;p7"/>
          <p:cNvSpPr txBox="1"/>
          <p:nvPr>
            <p:ph idx="7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54" name="Google Shape;54;p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ITLE_AND_TWO_COLUMNS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body"/>
          </p:nvPr>
        </p:nvSpPr>
        <p:spPr>
          <a:xfrm>
            <a:off x="2294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subTitle"/>
          </p:nvPr>
        </p:nvSpPr>
        <p:spPr>
          <a:xfrm>
            <a:off x="2294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315580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subTitle"/>
          </p:nvPr>
        </p:nvSpPr>
        <p:spPr>
          <a:xfrm>
            <a:off x="315580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60821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subTitle"/>
          </p:nvPr>
        </p:nvSpPr>
        <p:spPr>
          <a:xfrm>
            <a:off x="60821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cxnSp>
        <p:nvCxnSpPr>
          <p:cNvPr id="64" name="Google Shape;64;p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TITLE_AND_TWO_COLUMNS_1_2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9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8" name="Google Shape;68;p9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9"/>
          <p:cNvSpPr txBox="1"/>
          <p:nvPr>
            <p:ph idx="1" type="body"/>
          </p:nvPr>
        </p:nvSpPr>
        <p:spPr>
          <a:xfrm>
            <a:off x="24003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2" type="body"/>
          </p:nvPr>
        </p:nvSpPr>
        <p:spPr>
          <a:xfrm>
            <a:off x="2286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3" type="body"/>
          </p:nvPr>
        </p:nvSpPr>
        <p:spPr>
          <a:xfrm>
            <a:off x="45720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4" type="body"/>
          </p:nvPr>
        </p:nvSpPr>
        <p:spPr>
          <a:xfrm>
            <a:off x="67437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5" type="subTitle"/>
          </p:nvPr>
        </p:nvSpPr>
        <p:spPr>
          <a:xfrm>
            <a:off x="22945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74" name="Google Shape;74;p9"/>
          <p:cNvSpPr txBox="1"/>
          <p:nvPr>
            <p:ph idx="6" type="subTitle"/>
          </p:nvPr>
        </p:nvSpPr>
        <p:spPr>
          <a:xfrm>
            <a:off x="240030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75" name="Google Shape;75;p9"/>
          <p:cNvSpPr txBox="1"/>
          <p:nvPr>
            <p:ph idx="7" type="subTitle"/>
          </p:nvPr>
        </p:nvSpPr>
        <p:spPr>
          <a:xfrm>
            <a:off x="457200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76" name="Google Shape;76;p9"/>
          <p:cNvSpPr txBox="1"/>
          <p:nvPr>
            <p:ph idx="8" type="subTitle"/>
          </p:nvPr>
        </p:nvSpPr>
        <p:spPr>
          <a:xfrm>
            <a:off x="674370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TITLE_AND_TWO_COLUMNS_1_2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0"/>
          <p:cNvSpPr txBox="1"/>
          <p:nvPr>
            <p:ph type="title"/>
          </p:nvPr>
        </p:nvSpPr>
        <p:spPr>
          <a:xfrm>
            <a:off x="229450" y="164350"/>
            <a:ext cx="5541900" cy="18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cxnSp>
        <p:nvCxnSpPr>
          <p:cNvPr id="80" name="Google Shape;80;p10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" name="Google Shape;81;p10"/>
          <p:cNvSpPr txBox="1"/>
          <p:nvPr>
            <p:ph idx="1" type="body"/>
          </p:nvPr>
        </p:nvSpPr>
        <p:spPr>
          <a:xfrm>
            <a:off x="228600" y="2448075"/>
            <a:ext cx="55419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2" type="subTitle"/>
          </p:nvPr>
        </p:nvSpPr>
        <p:spPr>
          <a:xfrm>
            <a:off x="228600" y="1798275"/>
            <a:ext cx="55419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ITLE_AND_TWO_COLUMNS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1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" type="body"/>
          </p:nvPr>
        </p:nvSpPr>
        <p:spPr>
          <a:xfrm>
            <a:off x="229450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2" type="subTitle"/>
          </p:nvPr>
        </p:nvSpPr>
        <p:spPr>
          <a:xfrm>
            <a:off x="229450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cxnSp>
        <p:nvCxnSpPr>
          <p:cNvPr id="88" name="Google Shape;88;p1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11"/>
          <p:cNvSpPr txBox="1"/>
          <p:nvPr>
            <p:ph idx="3" type="body"/>
          </p:nvPr>
        </p:nvSpPr>
        <p:spPr>
          <a:xfrm>
            <a:off x="4573675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4" type="subTitle"/>
          </p:nvPr>
        </p:nvSpPr>
        <p:spPr>
          <a:xfrm>
            <a:off x="4573675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ody text">
  <p:cSld name="CUSTOM_3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/>
          <p:nvPr>
            <p:ph idx="1" type="body"/>
          </p:nvPr>
        </p:nvSpPr>
        <p:spPr>
          <a:xfrm>
            <a:off x="5095525" y="922175"/>
            <a:ext cx="3440100" cy="12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2"/>
          <p:cNvSpPr txBox="1"/>
          <p:nvPr>
            <p:ph idx="2" type="body"/>
          </p:nvPr>
        </p:nvSpPr>
        <p:spPr>
          <a:xfrm>
            <a:off x="5095525" y="2801100"/>
            <a:ext cx="34401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3" type="body"/>
          </p:nvPr>
        </p:nvSpPr>
        <p:spPr>
          <a:xfrm>
            <a:off x="5095525" y="4013575"/>
            <a:ext cx="3440100" cy="53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4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97" name="Google Shape;97;p1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3"/>
          <p:cNvSpPr txBox="1"/>
          <p:nvPr>
            <p:ph type="title"/>
          </p:nvPr>
        </p:nvSpPr>
        <p:spPr>
          <a:xfrm>
            <a:off x="229450" y="164350"/>
            <a:ext cx="8686800" cy="3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1" type="body"/>
          </p:nvPr>
        </p:nvSpPr>
        <p:spPr>
          <a:xfrm>
            <a:off x="2286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2" type="body"/>
          </p:nvPr>
        </p:nvSpPr>
        <p:spPr>
          <a:xfrm>
            <a:off x="24003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4" type="body"/>
          </p:nvPr>
        </p:nvSpPr>
        <p:spPr>
          <a:xfrm>
            <a:off x="67437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5" type="body"/>
          </p:nvPr>
        </p:nvSpPr>
        <p:spPr>
          <a:xfrm>
            <a:off x="45720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06" name="Google Shape;106;p1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 text">
  <p:cSld name="TITLE_ONLY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14"/>
          <p:cNvSpPr txBox="1"/>
          <p:nvPr>
            <p:ph idx="1" type="body"/>
          </p:nvPr>
        </p:nvSpPr>
        <p:spPr>
          <a:xfrm>
            <a:off x="3701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0" name="Google Shape;110;p14"/>
          <p:cNvSpPr txBox="1"/>
          <p:nvPr>
            <p:ph idx="2" type="body"/>
          </p:nvPr>
        </p:nvSpPr>
        <p:spPr>
          <a:xfrm>
            <a:off x="2541453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1" name="Google Shape;111;p14"/>
          <p:cNvSpPr txBox="1"/>
          <p:nvPr>
            <p:ph idx="3" type="body"/>
          </p:nvPr>
        </p:nvSpPr>
        <p:spPr>
          <a:xfrm>
            <a:off x="4713154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2" name="Google Shape;112;p14"/>
          <p:cNvSpPr txBox="1"/>
          <p:nvPr>
            <p:ph idx="4" type="body"/>
          </p:nvPr>
        </p:nvSpPr>
        <p:spPr>
          <a:xfrm>
            <a:off x="6884852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3" name="Google Shape;113;p14"/>
          <p:cNvSpPr txBox="1"/>
          <p:nvPr>
            <p:ph idx="5" type="subTitle"/>
          </p:nvPr>
        </p:nvSpPr>
        <p:spPr>
          <a:xfrm>
            <a:off x="37010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idx="6" type="subTitle"/>
          </p:nvPr>
        </p:nvSpPr>
        <p:spPr>
          <a:xfrm>
            <a:off x="254145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5" name="Google Shape;115;p14"/>
          <p:cNvSpPr txBox="1"/>
          <p:nvPr>
            <p:ph idx="7" type="subTitle"/>
          </p:nvPr>
        </p:nvSpPr>
        <p:spPr>
          <a:xfrm>
            <a:off x="471280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6" name="Google Shape;116;p14"/>
          <p:cNvSpPr txBox="1"/>
          <p:nvPr>
            <p:ph idx="8" type="subTitle"/>
          </p:nvPr>
        </p:nvSpPr>
        <p:spPr>
          <a:xfrm>
            <a:off x="688415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7" name="Google Shape;117;p14"/>
          <p:cNvSpPr txBox="1"/>
          <p:nvPr>
            <p:ph idx="9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18" name="Google Shape;118;p1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_ONLY_1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5"/>
          <p:cNvSpPr txBox="1"/>
          <p:nvPr>
            <p:ph idx="1" type="subTitle"/>
          </p:nvPr>
        </p:nvSpPr>
        <p:spPr>
          <a:xfrm>
            <a:off x="1456800" y="17907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2" type="subTitle"/>
          </p:nvPr>
        </p:nvSpPr>
        <p:spPr>
          <a:xfrm>
            <a:off x="3628150" y="17907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3" name="Google Shape;123;p15"/>
          <p:cNvSpPr txBox="1"/>
          <p:nvPr>
            <p:ph idx="3" type="subTitle"/>
          </p:nvPr>
        </p:nvSpPr>
        <p:spPr>
          <a:xfrm>
            <a:off x="5799500" y="17907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4" name="Google Shape;124;p15"/>
          <p:cNvSpPr txBox="1"/>
          <p:nvPr>
            <p:ph idx="4" type="subTitle"/>
          </p:nvPr>
        </p:nvSpPr>
        <p:spPr>
          <a:xfrm>
            <a:off x="5799500" y="3234832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cxnSp>
        <p:nvCxnSpPr>
          <p:cNvPr id="125" name="Google Shape;125;p1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15"/>
          <p:cNvSpPr txBox="1"/>
          <p:nvPr>
            <p:ph idx="5" type="subTitle"/>
          </p:nvPr>
        </p:nvSpPr>
        <p:spPr>
          <a:xfrm>
            <a:off x="1456800" y="3234832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7" name="Google Shape;127;p15"/>
          <p:cNvSpPr txBox="1"/>
          <p:nvPr>
            <p:ph idx="6" type="subTitle"/>
          </p:nvPr>
        </p:nvSpPr>
        <p:spPr>
          <a:xfrm>
            <a:off x="3628150" y="3234832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8" name="Google Shape;128;p15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V">
  <p:cSld name="CUSTOM_5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/>
          <p:nvPr>
            <p:ph idx="1" type="body"/>
          </p:nvPr>
        </p:nvSpPr>
        <p:spPr>
          <a:xfrm>
            <a:off x="24003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1" name="Google Shape;131;p16"/>
          <p:cNvSpPr txBox="1"/>
          <p:nvPr>
            <p:ph idx="2" type="body"/>
          </p:nvPr>
        </p:nvSpPr>
        <p:spPr>
          <a:xfrm>
            <a:off x="2286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2" name="Google Shape;132;p1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16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34" name="Google Shape;134;p16"/>
          <p:cNvSpPr txBox="1"/>
          <p:nvPr>
            <p:ph idx="3" type="body"/>
          </p:nvPr>
        </p:nvSpPr>
        <p:spPr>
          <a:xfrm>
            <a:off x="45720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5" name="Google Shape;135;p16"/>
          <p:cNvSpPr txBox="1"/>
          <p:nvPr>
            <p:ph idx="4" type="body"/>
          </p:nvPr>
        </p:nvSpPr>
        <p:spPr>
          <a:xfrm>
            <a:off x="67437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6" name="Google Shape;136;p16"/>
          <p:cNvSpPr txBox="1"/>
          <p:nvPr>
            <p:ph idx="5" type="subTitle"/>
          </p:nvPr>
        </p:nvSpPr>
        <p:spPr>
          <a:xfrm>
            <a:off x="4572000" y="1585625"/>
            <a:ext cx="40611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7" name="Google Shape;137;p16"/>
          <p:cNvSpPr txBox="1"/>
          <p:nvPr>
            <p:ph idx="6" type="subTitle"/>
          </p:nvPr>
        </p:nvSpPr>
        <p:spPr>
          <a:xfrm>
            <a:off x="228600" y="1585625"/>
            <a:ext cx="40611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8" name="Google Shape;138;p16"/>
          <p:cNvSpPr txBox="1"/>
          <p:nvPr>
            <p:ph idx="7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39" name="Google Shape;139;p1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footer">
  <p:cSld name="CUSTOM"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>
            <p:ph type="title"/>
          </p:nvPr>
        </p:nvSpPr>
        <p:spPr>
          <a:xfrm>
            <a:off x="225750" y="369625"/>
            <a:ext cx="8692500" cy="431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44" name="Google Shape;144;p1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CUSTOM_10"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type="title"/>
          </p:nvPr>
        </p:nvSpPr>
        <p:spPr>
          <a:xfrm>
            <a:off x="225750" y="369625"/>
            <a:ext cx="8692500" cy="431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7" name="Google Shape;147;p18"/>
          <p:cNvSpPr txBox="1"/>
          <p:nvPr>
            <p:ph idx="2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9" name="Google Shape;149;p1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6"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>
            <p:ph type="title"/>
          </p:nvPr>
        </p:nvSpPr>
        <p:spPr>
          <a:xfrm>
            <a:off x="225750" y="1212350"/>
            <a:ext cx="8692500" cy="347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2" name="Google Shape;152;p1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19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54" name="Google Shape;154;p19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19"/>
          <p:cNvCxnSpPr/>
          <p:nvPr/>
        </p:nvCxnSpPr>
        <p:spPr>
          <a:xfrm flipH="1" rot="10800000">
            <a:off x="225750" y="12123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with footer">
  <p:cSld name="CUSTOM_7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20"/>
          <p:cNvSpPr txBox="1"/>
          <p:nvPr>
            <p:ph type="title"/>
          </p:nvPr>
        </p:nvSpPr>
        <p:spPr>
          <a:xfrm>
            <a:off x="228600" y="665825"/>
            <a:ext cx="5753400" cy="22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" name="Google Shape;159;p20"/>
          <p:cNvSpPr/>
          <p:nvPr>
            <p:ph idx="2" type="pic"/>
          </p:nvPr>
        </p:nvSpPr>
        <p:spPr>
          <a:xfrm>
            <a:off x="6777063" y="1017650"/>
            <a:ext cx="1582800" cy="15828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20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61" name="Google Shape;161;p20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7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21"/>
          <p:cNvSpPr/>
          <p:nvPr/>
        </p:nvSpPr>
        <p:spPr>
          <a:xfrm>
            <a:off x="7005675" y="789050"/>
            <a:ext cx="1582800" cy="1582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1"/>
          <p:cNvSpPr txBox="1"/>
          <p:nvPr>
            <p:ph type="title"/>
          </p:nvPr>
        </p:nvSpPr>
        <p:spPr>
          <a:xfrm>
            <a:off x="228600" y="665825"/>
            <a:ext cx="5753400" cy="22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" name="Google Shape;166;p21"/>
          <p:cNvSpPr/>
          <p:nvPr>
            <p:ph idx="2" type="pic"/>
          </p:nvPr>
        </p:nvSpPr>
        <p:spPr>
          <a:xfrm>
            <a:off x="6777063" y="1017650"/>
            <a:ext cx="1582800" cy="1582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7" name="Google Shape;167;p2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CUSTOM_8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2"/>
          <p:cNvSpPr txBox="1"/>
          <p:nvPr>
            <p:ph type="title"/>
          </p:nvPr>
        </p:nvSpPr>
        <p:spPr>
          <a:xfrm>
            <a:off x="228600" y="1549575"/>
            <a:ext cx="7938000" cy="228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1" name="Google Shape;171;p22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72" name="Google Shape;172;p2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8_1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5" name="Google Shape;175;p2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23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8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9" name="Google Shape;179;p2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24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with footer">
  <p:cSld name="ONE_COLUMN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25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84" name="Google Shape;184;p25"/>
          <p:cNvSpPr txBox="1"/>
          <p:nvPr>
            <p:ph idx="1" type="subTitle"/>
          </p:nvPr>
        </p:nvSpPr>
        <p:spPr>
          <a:xfrm>
            <a:off x="4572000" y="1004700"/>
            <a:ext cx="43434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85" name="Google Shape;185;p25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86" name="Google Shape;186;p2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ONE_COLUMN_TEXT_2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26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90" name="Google Shape;190;p26"/>
          <p:cNvSpPr txBox="1"/>
          <p:nvPr>
            <p:ph idx="1" type="subTitle"/>
          </p:nvPr>
        </p:nvSpPr>
        <p:spPr>
          <a:xfrm>
            <a:off x="4572000" y="1004700"/>
            <a:ext cx="43434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cxnSp>
        <p:nvCxnSpPr>
          <p:cNvPr id="191" name="Google Shape;191;p2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ONE_COLUMN_TEXT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228600" y="2089772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95" name="Google Shape;195;p27"/>
          <p:cNvSpPr txBox="1"/>
          <p:nvPr>
            <p:ph idx="1" type="subTitle"/>
          </p:nvPr>
        </p:nvSpPr>
        <p:spPr>
          <a:xfrm>
            <a:off x="6074275" y="1004700"/>
            <a:ext cx="25587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96" name="Google Shape;196;p27"/>
          <p:cNvSpPr txBox="1"/>
          <p:nvPr>
            <p:ph idx="2" type="subTitle"/>
          </p:nvPr>
        </p:nvSpPr>
        <p:spPr>
          <a:xfrm>
            <a:off x="4292700" y="1004700"/>
            <a:ext cx="16710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1pPr>
            <a:lvl2pPr lvl="1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2pPr>
            <a:lvl3pPr lvl="2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3pPr>
            <a:lvl4pPr lvl="3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4pPr>
            <a:lvl5pPr lvl="4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5pPr>
            <a:lvl6pPr lvl="5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6pPr>
            <a:lvl7pPr lvl="6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7pPr>
            <a:lvl8pPr lvl="7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8pPr>
            <a:lvl9pPr lvl="8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9pPr>
          </a:lstStyle>
          <a:p/>
        </p:txBody>
      </p:sp>
      <p:sp>
        <p:nvSpPr>
          <p:cNvPr id="197" name="Google Shape;197;p27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98" name="Google Shape;198;p2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footer">
  <p:cSld name="CUSTOM_4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8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202" name="Google Shape;202;p28"/>
          <p:cNvSpPr txBox="1"/>
          <p:nvPr>
            <p:ph idx="1" type="body"/>
          </p:nvPr>
        </p:nvSpPr>
        <p:spPr>
          <a:xfrm>
            <a:off x="2294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03" name="Google Shape;203;p28"/>
          <p:cNvSpPr txBox="1"/>
          <p:nvPr>
            <p:ph idx="2" type="body"/>
          </p:nvPr>
        </p:nvSpPr>
        <p:spPr>
          <a:xfrm>
            <a:off x="45728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04" name="Google Shape;204;p28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05" name="Google Shape;205;p2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4_1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29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209" name="Google Shape;209;p29"/>
          <p:cNvSpPr txBox="1"/>
          <p:nvPr>
            <p:ph idx="1" type="body"/>
          </p:nvPr>
        </p:nvSpPr>
        <p:spPr>
          <a:xfrm>
            <a:off x="2294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10" name="Google Shape;210;p29"/>
          <p:cNvSpPr txBox="1"/>
          <p:nvPr>
            <p:ph idx="2" type="body"/>
          </p:nvPr>
        </p:nvSpPr>
        <p:spPr>
          <a:xfrm>
            <a:off x="45728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11" name="Google Shape;211;p29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mage boards">
  <p:cSld name="CUSTOM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4" name="Google Shape;214;p30"/>
          <p:cNvSpPr txBox="1"/>
          <p:nvPr>
            <p:ph idx="1" type="subTitle"/>
          </p:nvPr>
        </p:nvSpPr>
        <p:spPr>
          <a:xfrm>
            <a:off x="228600" y="164350"/>
            <a:ext cx="35142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15" name="Google Shape;215;p30"/>
          <p:cNvSpPr/>
          <p:nvPr>
            <p:ph idx="2" type="pic"/>
          </p:nvPr>
        </p:nvSpPr>
        <p:spPr>
          <a:xfrm>
            <a:off x="228600" y="1870200"/>
            <a:ext cx="20244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30"/>
          <p:cNvSpPr/>
          <p:nvPr>
            <p:ph idx="3" type="pic"/>
          </p:nvPr>
        </p:nvSpPr>
        <p:spPr>
          <a:xfrm>
            <a:off x="3864875" y="1870200"/>
            <a:ext cx="35619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30"/>
          <p:cNvSpPr/>
          <p:nvPr>
            <p:ph idx="4" type="pic"/>
          </p:nvPr>
        </p:nvSpPr>
        <p:spPr>
          <a:xfrm>
            <a:off x="7547700" y="1870200"/>
            <a:ext cx="13677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30"/>
          <p:cNvSpPr/>
          <p:nvPr>
            <p:ph idx="5" type="pic"/>
          </p:nvPr>
        </p:nvSpPr>
        <p:spPr>
          <a:xfrm>
            <a:off x="2375088" y="1870200"/>
            <a:ext cx="13677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30"/>
          <p:cNvSpPr txBox="1"/>
          <p:nvPr>
            <p:ph idx="6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20" name="Google Shape;220;p30"/>
          <p:cNvSpPr txBox="1"/>
          <p:nvPr>
            <p:ph idx="7" type="body"/>
          </p:nvPr>
        </p:nvSpPr>
        <p:spPr>
          <a:xfrm>
            <a:off x="228600" y="593650"/>
            <a:ext cx="35142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21" name="Google Shape;221;p30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 boards">
  <p:cSld name="CUSTOM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1"/>
          <p:cNvSpPr txBox="1"/>
          <p:nvPr>
            <p:ph idx="1" type="subTitle"/>
          </p:nvPr>
        </p:nvSpPr>
        <p:spPr>
          <a:xfrm>
            <a:off x="228600" y="164350"/>
            <a:ext cx="35142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25" name="Google Shape;225;p31"/>
          <p:cNvSpPr/>
          <p:nvPr>
            <p:ph idx="2" type="pic"/>
          </p:nvPr>
        </p:nvSpPr>
        <p:spPr>
          <a:xfrm>
            <a:off x="228600" y="1617150"/>
            <a:ext cx="28203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31"/>
          <p:cNvSpPr/>
          <p:nvPr>
            <p:ph idx="3" type="pic"/>
          </p:nvPr>
        </p:nvSpPr>
        <p:spPr>
          <a:xfrm>
            <a:off x="3161800" y="1617150"/>
            <a:ext cx="28203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31"/>
          <p:cNvSpPr/>
          <p:nvPr>
            <p:ph idx="4" type="pic"/>
          </p:nvPr>
        </p:nvSpPr>
        <p:spPr>
          <a:xfrm>
            <a:off x="6095000" y="1617150"/>
            <a:ext cx="28203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31"/>
          <p:cNvSpPr txBox="1"/>
          <p:nvPr>
            <p:ph idx="5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29" name="Google Shape;229;p31"/>
          <p:cNvSpPr txBox="1"/>
          <p:nvPr>
            <p:ph idx="6" type="body"/>
          </p:nvPr>
        </p:nvSpPr>
        <p:spPr>
          <a:xfrm>
            <a:off x="228600" y="593650"/>
            <a:ext cx="35142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30" name="Google Shape;230;p3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boards">
  <p:cSld name="CUSTOM_1_1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32"/>
          <p:cNvSpPr txBox="1"/>
          <p:nvPr>
            <p:ph idx="1" type="subTitle"/>
          </p:nvPr>
        </p:nvSpPr>
        <p:spPr>
          <a:xfrm>
            <a:off x="228600" y="164350"/>
            <a:ext cx="35142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34" name="Google Shape;234;p32"/>
          <p:cNvSpPr/>
          <p:nvPr>
            <p:ph idx="2" type="pic"/>
          </p:nvPr>
        </p:nvSpPr>
        <p:spPr>
          <a:xfrm>
            <a:off x="4633050" y="1617150"/>
            <a:ext cx="42825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32"/>
          <p:cNvSpPr/>
          <p:nvPr>
            <p:ph idx="3" type="pic"/>
          </p:nvPr>
        </p:nvSpPr>
        <p:spPr>
          <a:xfrm>
            <a:off x="228600" y="1617150"/>
            <a:ext cx="42825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32"/>
          <p:cNvSpPr txBox="1"/>
          <p:nvPr>
            <p:ph idx="4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37" name="Google Shape;237;p32"/>
          <p:cNvSpPr txBox="1"/>
          <p:nvPr>
            <p:ph idx="5" type="body"/>
          </p:nvPr>
        </p:nvSpPr>
        <p:spPr>
          <a:xfrm>
            <a:off x="228600" y="593650"/>
            <a:ext cx="35142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38" name="Google Shape;238;p3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boards vertical">
  <p:cSld name="CUSTOM_1_1_1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/>
          <p:nvPr>
            <p:ph idx="2" type="pic"/>
          </p:nvPr>
        </p:nvSpPr>
        <p:spPr>
          <a:xfrm>
            <a:off x="3161800" y="164350"/>
            <a:ext cx="2820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3"/>
          <p:cNvSpPr/>
          <p:nvPr>
            <p:ph idx="3" type="pic"/>
          </p:nvPr>
        </p:nvSpPr>
        <p:spPr>
          <a:xfrm>
            <a:off x="6095100" y="164350"/>
            <a:ext cx="2820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33"/>
          <p:cNvSpPr txBox="1"/>
          <p:nvPr>
            <p:ph idx="1" type="subTitle"/>
          </p:nvPr>
        </p:nvSpPr>
        <p:spPr>
          <a:xfrm>
            <a:off x="228600" y="164350"/>
            <a:ext cx="28203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44" name="Google Shape;244;p33"/>
          <p:cNvSpPr txBox="1"/>
          <p:nvPr>
            <p:ph idx="4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45" name="Google Shape;245;p33"/>
          <p:cNvSpPr txBox="1"/>
          <p:nvPr>
            <p:ph idx="5" type="body"/>
          </p:nvPr>
        </p:nvSpPr>
        <p:spPr>
          <a:xfrm>
            <a:off x="228600" y="593650"/>
            <a:ext cx="21714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46" name="Google Shape;246;p3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9" name="Google Shape;24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square image board">
  <p:cSld name="CUSTOM_1_1_1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/>
          <p:nvPr>
            <p:ph idx="2" type="pic"/>
          </p:nvPr>
        </p:nvSpPr>
        <p:spPr>
          <a:xfrm>
            <a:off x="4569950" y="164350"/>
            <a:ext cx="43431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3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35"/>
          <p:cNvSpPr txBox="1"/>
          <p:nvPr>
            <p:ph idx="1" type="subTitle"/>
          </p:nvPr>
        </p:nvSpPr>
        <p:spPr>
          <a:xfrm>
            <a:off x="228600" y="164350"/>
            <a:ext cx="28203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54" name="Google Shape;254;p35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55" name="Google Shape;255;p35"/>
          <p:cNvSpPr txBox="1"/>
          <p:nvPr>
            <p:ph idx="4" type="body"/>
          </p:nvPr>
        </p:nvSpPr>
        <p:spPr>
          <a:xfrm>
            <a:off x="228600" y="593650"/>
            <a:ext cx="21714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56" name="Google Shape;256;p3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landscape image board">
  <p:cSld name="CUSTOM_1_1_1_1_1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6"/>
          <p:cNvSpPr/>
          <p:nvPr>
            <p:ph idx="2" type="pic"/>
          </p:nvPr>
        </p:nvSpPr>
        <p:spPr>
          <a:xfrm>
            <a:off x="3161800" y="164350"/>
            <a:ext cx="5751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3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36"/>
          <p:cNvSpPr txBox="1"/>
          <p:nvPr>
            <p:ph idx="1" type="subTitle"/>
          </p:nvPr>
        </p:nvSpPr>
        <p:spPr>
          <a:xfrm>
            <a:off x="228600" y="3290275"/>
            <a:ext cx="28203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61" name="Google Shape;261;p36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62" name="Google Shape;262;p36"/>
          <p:cNvSpPr txBox="1"/>
          <p:nvPr>
            <p:ph idx="4" type="body"/>
          </p:nvPr>
        </p:nvSpPr>
        <p:spPr>
          <a:xfrm>
            <a:off x="228600" y="3719575"/>
            <a:ext cx="21714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63" name="Google Shape;263;p3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CUSTOM_1_1_1_1_1_1_2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"/>
          <p:cNvSpPr/>
          <p:nvPr>
            <p:ph idx="2" type="pic"/>
          </p:nvPr>
        </p:nvSpPr>
        <p:spPr>
          <a:xfrm>
            <a:off x="3161800" y="164350"/>
            <a:ext cx="5751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3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37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68" name="Google Shape;268;p37"/>
          <p:cNvSpPr txBox="1"/>
          <p:nvPr>
            <p:ph idx="3" type="body"/>
          </p:nvPr>
        </p:nvSpPr>
        <p:spPr>
          <a:xfrm>
            <a:off x="228600" y="3719575"/>
            <a:ext cx="21714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69" name="Google Shape;269;p3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37"/>
          <p:cNvSpPr txBox="1"/>
          <p:nvPr>
            <p:ph type="title"/>
          </p:nvPr>
        </p:nvSpPr>
        <p:spPr>
          <a:xfrm>
            <a:off x="228600" y="164350"/>
            <a:ext cx="2670300" cy="28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1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4" name="Google Shape;27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0" name="Google Shape;28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_2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3" name="Google Shape;283;p4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84" name="Google Shape;284;p4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1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41"/>
          <p:cNvSpPr/>
          <p:nvPr>
            <p:ph idx="2" type="pic"/>
          </p:nvPr>
        </p:nvSpPr>
        <p:spPr>
          <a:xfrm>
            <a:off x="4633050" y="1196050"/>
            <a:ext cx="42825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41"/>
          <p:cNvSpPr/>
          <p:nvPr>
            <p:ph idx="3" type="pic"/>
          </p:nvPr>
        </p:nvSpPr>
        <p:spPr>
          <a:xfrm>
            <a:off x="228600" y="1196050"/>
            <a:ext cx="4282500" cy="1761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90" name="Google Shape;290;p4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" name="Google Shape;291;p41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2" name="Google Shape;292;p41"/>
          <p:cNvSpPr txBox="1"/>
          <p:nvPr>
            <p:ph idx="1" type="body"/>
          </p:nvPr>
        </p:nvSpPr>
        <p:spPr>
          <a:xfrm>
            <a:off x="229450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93" name="Google Shape;293;p41"/>
          <p:cNvSpPr txBox="1"/>
          <p:nvPr>
            <p:ph idx="4" type="subTitle"/>
          </p:nvPr>
        </p:nvSpPr>
        <p:spPr>
          <a:xfrm>
            <a:off x="229450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294" name="Google Shape;294;p41"/>
          <p:cNvSpPr txBox="1"/>
          <p:nvPr>
            <p:ph idx="5" type="body"/>
          </p:nvPr>
        </p:nvSpPr>
        <p:spPr>
          <a:xfrm>
            <a:off x="4633050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95" name="Google Shape;295;p41"/>
          <p:cNvSpPr txBox="1"/>
          <p:nvPr>
            <p:ph idx="6" type="subTitle"/>
          </p:nvPr>
        </p:nvSpPr>
        <p:spPr>
          <a:xfrm>
            <a:off x="4633050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1_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98" name="Google Shape;298;p4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42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0" name="Google Shape;300;p42"/>
          <p:cNvSpPr/>
          <p:nvPr>
            <p:ph idx="2" type="pic"/>
          </p:nvPr>
        </p:nvSpPr>
        <p:spPr>
          <a:xfrm>
            <a:off x="228600" y="1196050"/>
            <a:ext cx="28203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42"/>
          <p:cNvSpPr/>
          <p:nvPr>
            <p:ph idx="3" type="pic"/>
          </p:nvPr>
        </p:nvSpPr>
        <p:spPr>
          <a:xfrm>
            <a:off x="3161800" y="1196050"/>
            <a:ext cx="28203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42"/>
          <p:cNvSpPr/>
          <p:nvPr>
            <p:ph idx="4" type="pic"/>
          </p:nvPr>
        </p:nvSpPr>
        <p:spPr>
          <a:xfrm>
            <a:off x="6095000" y="1196050"/>
            <a:ext cx="28203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42"/>
          <p:cNvSpPr txBox="1"/>
          <p:nvPr>
            <p:ph idx="1" type="body"/>
          </p:nvPr>
        </p:nvSpPr>
        <p:spPr>
          <a:xfrm>
            <a:off x="2294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4" name="Google Shape;304;p42"/>
          <p:cNvSpPr txBox="1"/>
          <p:nvPr>
            <p:ph idx="5" type="subTitle"/>
          </p:nvPr>
        </p:nvSpPr>
        <p:spPr>
          <a:xfrm>
            <a:off x="2294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305" name="Google Shape;305;p42"/>
          <p:cNvSpPr txBox="1"/>
          <p:nvPr>
            <p:ph idx="6" type="body"/>
          </p:nvPr>
        </p:nvSpPr>
        <p:spPr>
          <a:xfrm>
            <a:off x="315580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6" name="Google Shape;306;p42"/>
          <p:cNvSpPr txBox="1"/>
          <p:nvPr>
            <p:ph idx="7" type="subTitle"/>
          </p:nvPr>
        </p:nvSpPr>
        <p:spPr>
          <a:xfrm>
            <a:off x="315580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307" name="Google Shape;307;p42"/>
          <p:cNvSpPr txBox="1"/>
          <p:nvPr>
            <p:ph idx="8" type="body"/>
          </p:nvPr>
        </p:nvSpPr>
        <p:spPr>
          <a:xfrm>
            <a:off x="60821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8" name="Google Shape;308;p42"/>
          <p:cNvSpPr txBox="1"/>
          <p:nvPr>
            <p:ph idx="9" type="subTitle"/>
          </p:nvPr>
        </p:nvSpPr>
        <p:spPr>
          <a:xfrm>
            <a:off x="60821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 with footer">
  <p:cSld name="CUSTOM_1_1_1_1_1_1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3"/>
          <p:cNvSpPr/>
          <p:nvPr>
            <p:ph idx="2" type="pic"/>
          </p:nvPr>
        </p:nvSpPr>
        <p:spPr>
          <a:xfrm>
            <a:off x="228600" y="164350"/>
            <a:ext cx="86844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4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2" name="Google Shape;312;p43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313" name="Google Shape;313;p4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_1_1_1_1_1_1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4"/>
          <p:cNvSpPr/>
          <p:nvPr>
            <p:ph idx="2" type="pic"/>
          </p:nvPr>
        </p:nvSpPr>
        <p:spPr>
          <a:xfrm>
            <a:off x="228600" y="164350"/>
            <a:ext cx="86844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7" name="Google Shape;317;p4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_1_1_1_1_1_1_1_1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20" name="Google Shape;320;p4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45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45"/>
          <p:cNvSpPr/>
          <p:nvPr>
            <p:ph idx="2" type="pic"/>
          </p:nvPr>
        </p:nvSpPr>
        <p:spPr>
          <a:xfrm>
            <a:off x="228600" y="2598025"/>
            <a:ext cx="20244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45"/>
          <p:cNvSpPr/>
          <p:nvPr>
            <p:ph idx="3" type="pic"/>
          </p:nvPr>
        </p:nvSpPr>
        <p:spPr>
          <a:xfrm>
            <a:off x="3864875" y="2598025"/>
            <a:ext cx="35619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5"/>
          <p:cNvSpPr/>
          <p:nvPr>
            <p:ph idx="4" type="pic"/>
          </p:nvPr>
        </p:nvSpPr>
        <p:spPr>
          <a:xfrm>
            <a:off x="7547700" y="2598025"/>
            <a:ext cx="13677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5"/>
          <p:cNvSpPr/>
          <p:nvPr>
            <p:ph idx="5" type="pic"/>
          </p:nvPr>
        </p:nvSpPr>
        <p:spPr>
          <a:xfrm>
            <a:off x="2375088" y="2598025"/>
            <a:ext cx="13677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45"/>
          <p:cNvSpPr/>
          <p:nvPr>
            <p:ph idx="6" type="pic"/>
          </p:nvPr>
        </p:nvSpPr>
        <p:spPr>
          <a:xfrm>
            <a:off x="228600" y="1038850"/>
            <a:ext cx="10035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45"/>
          <p:cNvSpPr/>
          <p:nvPr>
            <p:ph idx="7" type="pic"/>
          </p:nvPr>
        </p:nvSpPr>
        <p:spPr>
          <a:xfrm>
            <a:off x="6745975" y="1038850"/>
            <a:ext cx="21696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5"/>
          <p:cNvSpPr/>
          <p:nvPr>
            <p:ph idx="8" type="pic"/>
          </p:nvPr>
        </p:nvSpPr>
        <p:spPr>
          <a:xfrm>
            <a:off x="1354150" y="1038850"/>
            <a:ext cx="15024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5"/>
          <p:cNvSpPr/>
          <p:nvPr>
            <p:ph idx="9" type="pic"/>
          </p:nvPr>
        </p:nvSpPr>
        <p:spPr>
          <a:xfrm>
            <a:off x="2981410" y="1038850"/>
            <a:ext cx="21963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5"/>
          <p:cNvSpPr/>
          <p:nvPr>
            <p:ph idx="13" type="pic"/>
          </p:nvPr>
        </p:nvSpPr>
        <p:spPr>
          <a:xfrm>
            <a:off x="5311004" y="1038850"/>
            <a:ext cx="1301700" cy="145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image">
  <p:cSld name="CUSTOM_2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46"/>
          <p:cNvSpPr/>
          <p:nvPr>
            <p:ph idx="2" type="pic"/>
          </p:nvPr>
        </p:nvSpPr>
        <p:spPr>
          <a:xfrm>
            <a:off x="228600" y="164350"/>
            <a:ext cx="5751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46"/>
          <p:cNvSpPr txBox="1"/>
          <p:nvPr>
            <p:ph type="title"/>
          </p:nvPr>
        </p:nvSpPr>
        <p:spPr>
          <a:xfrm>
            <a:off x="6095100" y="321875"/>
            <a:ext cx="2820300" cy="15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5" name="Google Shape;335;p46"/>
          <p:cNvSpPr txBox="1"/>
          <p:nvPr>
            <p:ph idx="1" type="subTitle"/>
          </p:nvPr>
        </p:nvSpPr>
        <p:spPr>
          <a:xfrm>
            <a:off x="6095100" y="1842575"/>
            <a:ext cx="2820300" cy="26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36" name="Google Shape;336;p46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337" name="Google Shape;337;p4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2_1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0" name="Google Shape;340;p4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p47"/>
          <p:cNvSpPr txBox="1"/>
          <p:nvPr>
            <p:ph hasCustomPrompt="1" type="title"/>
          </p:nvPr>
        </p:nvSpPr>
        <p:spPr>
          <a:xfrm>
            <a:off x="225750" y="1212350"/>
            <a:ext cx="8606700" cy="439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9pPr>
          </a:lstStyle>
          <a:p>
            <a:r>
              <a:t>xx%</a:t>
            </a:r>
          </a:p>
        </p:txBody>
      </p:sp>
      <p:cxnSp>
        <p:nvCxnSpPr>
          <p:cNvPr id="342" name="Google Shape;342;p47"/>
          <p:cNvCxnSpPr/>
          <p:nvPr/>
        </p:nvCxnSpPr>
        <p:spPr>
          <a:xfrm flipH="1" rot="10800000">
            <a:off x="225750" y="12123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47"/>
          <p:cNvSpPr txBox="1"/>
          <p:nvPr>
            <p:ph idx="1" type="body"/>
          </p:nvPr>
        </p:nvSpPr>
        <p:spPr>
          <a:xfrm>
            <a:off x="228600" y="578150"/>
            <a:ext cx="8692500" cy="63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2_1_1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6" name="Google Shape;346;p4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48"/>
          <p:cNvSpPr txBox="1"/>
          <p:nvPr>
            <p:ph idx="1" type="body"/>
          </p:nvPr>
        </p:nvSpPr>
        <p:spPr>
          <a:xfrm>
            <a:off x="228600" y="3719575"/>
            <a:ext cx="3942600" cy="74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9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owun Batang"/>
              <a:buNone/>
              <a:defRPr sz="36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2947825"/>
            <a:ext cx="8520600" cy="16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4">
          <p15:clr>
            <a:srgbClr val="E46962"/>
          </p15:clr>
        </p15:guide>
        <p15:guide id="2" pos="5616">
          <p15:clr>
            <a:srgbClr val="E46962"/>
          </p15:clr>
        </p15:guide>
        <p15:guide id="3" orient="horz" pos="10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0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Prashil Patel</a:t>
            </a:r>
            <a:endParaRPr/>
          </a:p>
        </p:txBody>
      </p:sp>
      <p:sp>
        <p:nvSpPr>
          <p:cNvPr id="354" name="Google Shape;354;p50"/>
          <p:cNvSpPr txBox="1"/>
          <p:nvPr>
            <p:ph type="title"/>
          </p:nvPr>
        </p:nvSpPr>
        <p:spPr>
          <a:xfrm>
            <a:off x="228600" y="1909750"/>
            <a:ext cx="6685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Dataset Analysis</a:t>
            </a:r>
            <a:endParaRPr/>
          </a:p>
        </p:txBody>
      </p:sp>
      <p:sp>
        <p:nvSpPr>
          <p:cNvPr id="355" name="Google Shape;355;p50"/>
          <p:cNvSpPr txBox="1"/>
          <p:nvPr>
            <p:ph idx="1" type="body"/>
          </p:nvPr>
        </p:nvSpPr>
        <p:spPr>
          <a:xfrm>
            <a:off x="228600" y="2856025"/>
            <a:ext cx="18894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Exploring game ratings by release date</a:t>
            </a:r>
            <a:endParaRPr/>
          </a:p>
        </p:txBody>
      </p:sp>
      <p:sp>
        <p:nvSpPr>
          <p:cNvPr id="356" name="Google Shape;356;p5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51"/>
          <p:cNvGrpSpPr/>
          <p:nvPr/>
        </p:nvGrpSpPr>
        <p:grpSpPr>
          <a:xfrm>
            <a:off x="228600" y="788749"/>
            <a:ext cx="8686800" cy="310501"/>
            <a:chOff x="228600" y="788749"/>
            <a:chExt cx="8686800" cy="310501"/>
          </a:xfrm>
        </p:grpSpPr>
        <p:sp>
          <p:nvSpPr>
            <p:cNvPr id="362" name="Google Shape;362;p51"/>
            <p:cNvSpPr txBox="1"/>
            <p:nvPr/>
          </p:nvSpPr>
          <p:spPr>
            <a:xfrm>
              <a:off x="228600" y="788749"/>
              <a:ext cx="47928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Business Question / Hypothesis</a:t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363" name="Google Shape;363;p51"/>
            <p:cNvCxnSpPr/>
            <p:nvPr/>
          </p:nvCxnSpPr>
          <p:spPr>
            <a:xfrm>
              <a:off x="228600" y="1099250"/>
              <a:ext cx="86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64" name="Google Shape;364;p51"/>
            <p:cNvSpPr txBox="1"/>
            <p:nvPr/>
          </p:nvSpPr>
          <p:spPr>
            <a:xfrm>
              <a:off x="7543800" y="788749"/>
              <a:ext cx="13716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Font typeface="Arial"/>
                <a:buNone/>
              </a:pPr>
              <a:r>
                <a:rPr lang="en" sz="900">
                  <a:solidFill>
                    <a:schemeClr val="dk1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Page 4</a:t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</p:grpSp>
      <p:sp>
        <p:nvSpPr>
          <p:cNvPr id="365" name="Google Shape;365;p5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6" name="Google Shape;366;p51"/>
          <p:cNvSpPr txBox="1"/>
          <p:nvPr>
            <p:ph idx="1" type="subTitle"/>
          </p:nvPr>
        </p:nvSpPr>
        <p:spPr>
          <a:xfrm>
            <a:off x="228600" y="167750"/>
            <a:ext cx="5257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</a:t>
            </a:r>
            <a:endParaRPr/>
          </a:p>
        </p:txBody>
      </p:sp>
      <p:sp>
        <p:nvSpPr>
          <p:cNvPr id="367" name="Google Shape;367;p51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Prashil Patel</a:t>
            </a:r>
            <a:endParaRPr/>
          </a:p>
        </p:txBody>
      </p:sp>
      <p:grpSp>
        <p:nvGrpSpPr>
          <p:cNvPr id="368" name="Google Shape;368;p51"/>
          <p:cNvGrpSpPr/>
          <p:nvPr/>
        </p:nvGrpSpPr>
        <p:grpSpPr>
          <a:xfrm>
            <a:off x="228600" y="478250"/>
            <a:ext cx="8686800" cy="310500"/>
            <a:chOff x="228600" y="478250"/>
            <a:chExt cx="8686800" cy="310500"/>
          </a:xfrm>
        </p:grpSpPr>
        <p:sp>
          <p:nvSpPr>
            <p:cNvPr id="369" name="Google Shape;369;p51"/>
            <p:cNvSpPr txBox="1"/>
            <p:nvPr/>
          </p:nvSpPr>
          <p:spPr>
            <a:xfrm>
              <a:off x="228600" y="478250"/>
              <a:ext cx="47928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Overview (Business Problem/ Dataset)</a:t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370" name="Google Shape;370;p51"/>
            <p:cNvCxnSpPr/>
            <p:nvPr/>
          </p:nvCxnSpPr>
          <p:spPr>
            <a:xfrm>
              <a:off x="228600" y="788750"/>
              <a:ext cx="86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1" name="Google Shape;371;p51"/>
            <p:cNvSpPr txBox="1"/>
            <p:nvPr/>
          </p:nvSpPr>
          <p:spPr>
            <a:xfrm>
              <a:off x="7543800" y="478250"/>
              <a:ext cx="13716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Page 3</a:t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</p:grpSp>
      <p:grpSp>
        <p:nvGrpSpPr>
          <p:cNvPr id="372" name="Google Shape;372;p51"/>
          <p:cNvGrpSpPr/>
          <p:nvPr/>
        </p:nvGrpSpPr>
        <p:grpSpPr>
          <a:xfrm>
            <a:off x="228600" y="1099249"/>
            <a:ext cx="8686800" cy="310501"/>
            <a:chOff x="228600" y="1099249"/>
            <a:chExt cx="8686800" cy="310501"/>
          </a:xfrm>
        </p:grpSpPr>
        <p:sp>
          <p:nvSpPr>
            <p:cNvPr id="373" name="Google Shape;373;p51"/>
            <p:cNvSpPr txBox="1"/>
            <p:nvPr/>
          </p:nvSpPr>
          <p:spPr>
            <a:xfrm>
              <a:off x="228600" y="1099249"/>
              <a:ext cx="47928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Methods, Results and Findings</a:t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374" name="Google Shape;374;p51"/>
            <p:cNvCxnSpPr/>
            <p:nvPr/>
          </p:nvCxnSpPr>
          <p:spPr>
            <a:xfrm>
              <a:off x="228600" y="1409750"/>
              <a:ext cx="86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5" name="Google Shape;375;p51"/>
            <p:cNvSpPr txBox="1"/>
            <p:nvPr/>
          </p:nvSpPr>
          <p:spPr>
            <a:xfrm>
              <a:off x="7543800" y="1099249"/>
              <a:ext cx="13716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Page 5</a:t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</p:grpSp>
      <p:grpSp>
        <p:nvGrpSpPr>
          <p:cNvPr id="376" name="Google Shape;376;p51"/>
          <p:cNvGrpSpPr/>
          <p:nvPr/>
        </p:nvGrpSpPr>
        <p:grpSpPr>
          <a:xfrm>
            <a:off x="228600" y="1409748"/>
            <a:ext cx="8686800" cy="310502"/>
            <a:chOff x="228600" y="1409748"/>
            <a:chExt cx="8686800" cy="310502"/>
          </a:xfrm>
        </p:grpSpPr>
        <p:sp>
          <p:nvSpPr>
            <p:cNvPr id="377" name="Google Shape;377;p51"/>
            <p:cNvSpPr txBox="1"/>
            <p:nvPr/>
          </p:nvSpPr>
          <p:spPr>
            <a:xfrm>
              <a:off x="228600" y="1409748"/>
              <a:ext cx="47928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None/>
              </a:pPr>
              <a:r>
                <a:rPr lang="en" sz="900">
                  <a:solidFill>
                    <a:schemeClr val="dk1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Data Cleaning and Wrangling Process</a:t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378" name="Google Shape;378;p51"/>
            <p:cNvCxnSpPr/>
            <p:nvPr/>
          </p:nvCxnSpPr>
          <p:spPr>
            <a:xfrm>
              <a:off x="228600" y="1720250"/>
              <a:ext cx="86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9" name="Google Shape;379;p51"/>
            <p:cNvSpPr txBox="1"/>
            <p:nvPr/>
          </p:nvSpPr>
          <p:spPr>
            <a:xfrm>
              <a:off x="7543800" y="1409748"/>
              <a:ext cx="13716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Page 6</a:t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</p:grpSp>
      <p:grpSp>
        <p:nvGrpSpPr>
          <p:cNvPr id="380" name="Google Shape;380;p51"/>
          <p:cNvGrpSpPr/>
          <p:nvPr/>
        </p:nvGrpSpPr>
        <p:grpSpPr>
          <a:xfrm>
            <a:off x="228600" y="1720248"/>
            <a:ext cx="8686800" cy="310502"/>
            <a:chOff x="228600" y="1720248"/>
            <a:chExt cx="8686800" cy="310502"/>
          </a:xfrm>
        </p:grpSpPr>
        <p:sp>
          <p:nvSpPr>
            <p:cNvPr id="381" name="Google Shape;381;p51"/>
            <p:cNvSpPr txBox="1"/>
            <p:nvPr/>
          </p:nvSpPr>
          <p:spPr>
            <a:xfrm>
              <a:off x="228600" y="1720248"/>
              <a:ext cx="47928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Font typeface="Arial"/>
                <a:buNone/>
              </a:pPr>
              <a:r>
                <a:rPr lang="en" sz="900">
                  <a:solidFill>
                    <a:schemeClr val="dk1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Exploratory Data Analysis</a:t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Font typeface="Arial"/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Font typeface="Arial"/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382" name="Google Shape;382;p51"/>
            <p:cNvCxnSpPr/>
            <p:nvPr/>
          </p:nvCxnSpPr>
          <p:spPr>
            <a:xfrm>
              <a:off x="228600" y="2030750"/>
              <a:ext cx="86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3" name="Google Shape;383;p51"/>
            <p:cNvSpPr txBox="1"/>
            <p:nvPr/>
          </p:nvSpPr>
          <p:spPr>
            <a:xfrm>
              <a:off x="7543800" y="1720248"/>
              <a:ext cx="13716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Font typeface="Arial"/>
                <a:buNone/>
              </a:pPr>
              <a:r>
                <a:rPr lang="en" sz="900">
                  <a:solidFill>
                    <a:schemeClr val="dk1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Page 7</a:t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</p:grpSp>
      <p:grpSp>
        <p:nvGrpSpPr>
          <p:cNvPr id="384" name="Google Shape;384;p51"/>
          <p:cNvGrpSpPr/>
          <p:nvPr/>
        </p:nvGrpSpPr>
        <p:grpSpPr>
          <a:xfrm>
            <a:off x="228600" y="2654602"/>
            <a:ext cx="8686800" cy="310504"/>
            <a:chOff x="228600" y="2654602"/>
            <a:chExt cx="8686800" cy="310504"/>
          </a:xfrm>
        </p:grpSpPr>
        <p:sp>
          <p:nvSpPr>
            <p:cNvPr id="385" name="Google Shape;385;p51"/>
            <p:cNvSpPr txBox="1"/>
            <p:nvPr/>
          </p:nvSpPr>
          <p:spPr>
            <a:xfrm>
              <a:off x="228600" y="2654602"/>
              <a:ext cx="47928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Font typeface="Arial"/>
                <a:buNone/>
              </a:pPr>
              <a:r>
                <a:rPr lang="en" sz="900">
                  <a:solidFill>
                    <a:schemeClr val="dk1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Future Improvements</a:t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386" name="Google Shape;386;p51"/>
            <p:cNvCxnSpPr/>
            <p:nvPr/>
          </p:nvCxnSpPr>
          <p:spPr>
            <a:xfrm>
              <a:off x="228600" y="2965106"/>
              <a:ext cx="86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7" name="Google Shape;387;p51"/>
            <p:cNvSpPr txBox="1"/>
            <p:nvPr/>
          </p:nvSpPr>
          <p:spPr>
            <a:xfrm>
              <a:off x="7543800" y="2654602"/>
              <a:ext cx="13716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Font typeface="Arial"/>
                <a:buNone/>
              </a:pPr>
              <a:r>
                <a:rPr lang="en" sz="900">
                  <a:solidFill>
                    <a:schemeClr val="dk1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Page 10</a:t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</p:grpSp>
      <p:grpSp>
        <p:nvGrpSpPr>
          <p:cNvPr id="388" name="Google Shape;388;p51"/>
          <p:cNvGrpSpPr/>
          <p:nvPr/>
        </p:nvGrpSpPr>
        <p:grpSpPr>
          <a:xfrm>
            <a:off x="228600" y="2342678"/>
            <a:ext cx="8686800" cy="310503"/>
            <a:chOff x="228600" y="2342678"/>
            <a:chExt cx="8686800" cy="310503"/>
          </a:xfrm>
        </p:grpSpPr>
        <p:sp>
          <p:nvSpPr>
            <p:cNvPr id="389" name="Google Shape;389;p51"/>
            <p:cNvSpPr txBox="1"/>
            <p:nvPr/>
          </p:nvSpPr>
          <p:spPr>
            <a:xfrm>
              <a:off x="228600" y="2342678"/>
              <a:ext cx="47928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Font typeface="Arial"/>
                <a:buNone/>
              </a:pPr>
              <a:r>
                <a:rPr lang="en" sz="900">
                  <a:solidFill>
                    <a:schemeClr val="dk1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Bonus</a:t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390" name="Google Shape;390;p51"/>
            <p:cNvCxnSpPr/>
            <p:nvPr/>
          </p:nvCxnSpPr>
          <p:spPr>
            <a:xfrm>
              <a:off x="228600" y="2653181"/>
              <a:ext cx="86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1" name="Google Shape;391;p51"/>
            <p:cNvSpPr txBox="1"/>
            <p:nvPr/>
          </p:nvSpPr>
          <p:spPr>
            <a:xfrm>
              <a:off x="7543800" y="2342678"/>
              <a:ext cx="13716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Font typeface="Arial"/>
                <a:buNone/>
              </a:pPr>
              <a:r>
                <a:rPr lang="en" sz="900">
                  <a:solidFill>
                    <a:schemeClr val="dk1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Page 9</a:t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</p:grpSp>
      <p:grpSp>
        <p:nvGrpSpPr>
          <p:cNvPr id="392" name="Google Shape;392;p51"/>
          <p:cNvGrpSpPr/>
          <p:nvPr/>
        </p:nvGrpSpPr>
        <p:grpSpPr>
          <a:xfrm>
            <a:off x="228600" y="2030747"/>
            <a:ext cx="8686800" cy="310503"/>
            <a:chOff x="228600" y="2030747"/>
            <a:chExt cx="8686800" cy="310503"/>
          </a:xfrm>
        </p:grpSpPr>
        <p:sp>
          <p:nvSpPr>
            <p:cNvPr id="393" name="Google Shape;393;p51"/>
            <p:cNvSpPr txBox="1"/>
            <p:nvPr/>
          </p:nvSpPr>
          <p:spPr>
            <a:xfrm>
              <a:off x="228600" y="2030747"/>
              <a:ext cx="47928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Conclusions</a:t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394" name="Google Shape;394;p51"/>
            <p:cNvCxnSpPr/>
            <p:nvPr/>
          </p:nvCxnSpPr>
          <p:spPr>
            <a:xfrm>
              <a:off x="228600" y="2341250"/>
              <a:ext cx="8686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5" name="Google Shape;395;p51"/>
            <p:cNvSpPr txBox="1"/>
            <p:nvPr/>
          </p:nvSpPr>
          <p:spPr>
            <a:xfrm>
              <a:off x="7543800" y="2030747"/>
              <a:ext cx="13716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Font typeface="Arial"/>
                <a:buNone/>
              </a:pPr>
              <a:r>
                <a:rPr lang="en" sz="900">
                  <a:solidFill>
                    <a:schemeClr val="dk1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Page 8</a:t>
              </a:r>
              <a:endPara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2"/>
          <p:cNvSpPr txBox="1"/>
          <p:nvPr>
            <p:ph idx="2" type="body"/>
          </p:nvPr>
        </p:nvSpPr>
        <p:spPr>
          <a:xfrm>
            <a:off x="171875" y="2446663"/>
            <a:ext cx="34557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1200"/>
              <a:t>We need to determine whether video games released between </a:t>
            </a:r>
            <a:r>
              <a:rPr lang="en" sz="1200" u="sng"/>
              <a:t>2001-2010</a:t>
            </a:r>
            <a:r>
              <a:rPr lang="en" sz="1200"/>
              <a:t> have </a:t>
            </a:r>
            <a:r>
              <a:rPr lang="en" sz="1200" u="sng"/>
              <a:t>significantly </a:t>
            </a:r>
            <a:r>
              <a:rPr lang="en" sz="1200"/>
              <a:t>higher ratings than those released between </a:t>
            </a:r>
            <a:r>
              <a:rPr lang="en" sz="1200" u="sng"/>
              <a:t>2011-2020</a:t>
            </a:r>
            <a:r>
              <a:rPr lang="en" sz="1200"/>
              <a:t>. Understanding this </a:t>
            </a:r>
            <a:r>
              <a:rPr lang="en" sz="1200" u="sng"/>
              <a:t>trend </a:t>
            </a:r>
            <a:r>
              <a:rPr lang="en" sz="1200"/>
              <a:t>will help us make informed decisions about </a:t>
            </a:r>
            <a:r>
              <a:rPr lang="en" sz="1200" u="sng"/>
              <a:t>game design</a:t>
            </a:r>
            <a:r>
              <a:rPr lang="en" sz="1200"/>
              <a:t>, </a:t>
            </a:r>
            <a:r>
              <a:rPr lang="en" sz="1200" u="sng"/>
              <a:t>market preferences</a:t>
            </a:r>
            <a:r>
              <a:rPr lang="en" sz="1200"/>
              <a:t>, and </a:t>
            </a:r>
            <a:r>
              <a:rPr lang="en" sz="1200" u="sng"/>
              <a:t>potential investment</a:t>
            </a:r>
            <a:r>
              <a:rPr lang="en" sz="1200"/>
              <a:t> in specific genres or time periods.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2" name="Google Shape;402;p52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403" name="Google Shape;403;p52"/>
          <p:cNvSpPr txBox="1"/>
          <p:nvPr>
            <p:ph idx="3" type="body"/>
          </p:nvPr>
        </p:nvSpPr>
        <p:spPr>
          <a:xfrm>
            <a:off x="4572000" y="1206675"/>
            <a:ext cx="4061100" cy="32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Source: Kaggle (The data has been collected from a game log/recording site called backloggd.)</a:t>
            </a:r>
            <a:endParaRPr b="1"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Simple data scraping tools have been used such as Beautiful Soup*.</a:t>
            </a:r>
            <a:endParaRPr b="1"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1512 Samples, 13 Features</a:t>
            </a:r>
            <a:endParaRPr b="1"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Features Used:</a:t>
            </a:r>
            <a:endParaRPr b="1"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Title</a:t>
            </a:r>
            <a:endParaRPr b="1"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Release Year (created column)</a:t>
            </a:r>
            <a:endParaRPr b="1"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Release Date</a:t>
            </a:r>
            <a:endParaRPr b="1"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Team</a:t>
            </a:r>
            <a:endParaRPr b="1"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Rating</a:t>
            </a:r>
            <a:endParaRPr b="1"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Genre</a:t>
            </a:r>
            <a:endParaRPr b="1" sz="1100"/>
          </a:p>
        </p:txBody>
      </p:sp>
      <p:sp>
        <p:nvSpPr>
          <p:cNvPr id="404" name="Google Shape;404;p52"/>
          <p:cNvSpPr txBox="1"/>
          <p:nvPr>
            <p:ph idx="5" type="subTitle"/>
          </p:nvPr>
        </p:nvSpPr>
        <p:spPr>
          <a:xfrm>
            <a:off x="4572000" y="442625"/>
            <a:ext cx="40611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</p:txBody>
      </p:sp>
      <p:sp>
        <p:nvSpPr>
          <p:cNvPr id="405" name="Google Shape;405;p52"/>
          <p:cNvSpPr txBox="1"/>
          <p:nvPr>
            <p:ph idx="6" type="subTitle"/>
          </p:nvPr>
        </p:nvSpPr>
        <p:spPr>
          <a:xfrm>
            <a:off x="228600" y="1585625"/>
            <a:ext cx="40611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Problem</a:t>
            </a:r>
            <a:endParaRPr/>
          </a:p>
        </p:txBody>
      </p:sp>
      <p:sp>
        <p:nvSpPr>
          <p:cNvPr id="406" name="Google Shape;406;p52"/>
          <p:cNvSpPr txBox="1"/>
          <p:nvPr>
            <p:ph idx="7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Prashil Patel</a:t>
            </a:r>
            <a:endParaRPr/>
          </a:p>
        </p:txBody>
      </p:sp>
      <p:sp>
        <p:nvSpPr>
          <p:cNvPr id="407" name="Google Shape;407;p52"/>
          <p:cNvSpPr txBox="1"/>
          <p:nvPr/>
        </p:nvSpPr>
        <p:spPr>
          <a:xfrm>
            <a:off x="3231700" y="4260725"/>
            <a:ext cx="56976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*Beautiful Soup is a </a:t>
            </a:r>
            <a:r>
              <a:rPr lang="en"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web page</a:t>
            </a:r>
            <a:r>
              <a:rPr lang="en"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 scraping tool package available in python which simplifies HTML and XML parsing.</a:t>
            </a:r>
            <a:endParaRPr sz="9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3"/>
          <p:cNvSpPr txBox="1"/>
          <p:nvPr>
            <p:ph idx="2" type="body"/>
          </p:nvPr>
        </p:nvSpPr>
        <p:spPr>
          <a:xfrm>
            <a:off x="171875" y="2446663"/>
            <a:ext cx="34557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1200"/>
              <a:t>Do games released between </a:t>
            </a:r>
            <a:r>
              <a:rPr lang="en" sz="1200" u="sng"/>
              <a:t>2001-2010</a:t>
            </a:r>
            <a:r>
              <a:rPr lang="en" sz="1200"/>
              <a:t> have a </a:t>
            </a:r>
            <a:r>
              <a:rPr lang="en" sz="1200" u="sng"/>
              <a:t>better </a:t>
            </a:r>
            <a:r>
              <a:rPr lang="en" sz="1200"/>
              <a:t>player </a:t>
            </a:r>
            <a:r>
              <a:rPr lang="en" sz="1200" u="sng"/>
              <a:t>ratings </a:t>
            </a:r>
            <a:r>
              <a:rPr lang="en" sz="1200"/>
              <a:t>compared to games released in </a:t>
            </a:r>
            <a:r>
              <a:rPr lang="en" sz="1200" u="sng"/>
              <a:t>2011-2020</a:t>
            </a:r>
            <a:r>
              <a:rPr lang="en" sz="1200"/>
              <a:t> from </a:t>
            </a:r>
            <a:r>
              <a:rPr lang="en" sz="1200" u="sng"/>
              <a:t>backloggd.com.</a:t>
            </a:r>
            <a:endParaRPr sz="12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13" name="Google Shape;413;p5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4" name="Google Shape;414;p53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415" name="Google Shape;415;p53"/>
          <p:cNvSpPr txBox="1"/>
          <p:nvPr>
            <p:ph idx="3" type="body"/>
          </p:nvPr>
        </p:nvSpPr>
        <p:spPr>
          <a:xfrm>
            <a:off x="4572000" y="1206675"/>
            <a:ext cx="4061100" cy="32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/>
              <a:t>Null Hypothesis:</a:t>
            </a:r>
            <a:endParaRPr b="1" sz="1100" u="sng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There is no significant difference in the average ratings of games released between 2001-2010 and 2011-2020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/>
              <a:t>Alternative Hypothesis:</a:t>
            </a:r>
            <a:endParaRPr b="1" sz="11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	Games released in 2001-2010 have significantly higher ratings than those in 2011-2020.</a:t>
            </a:r>
            <a:endParaRPr sz="1100"/>
          </a:p>
        </p:txBody>
      </p:sp>
      <p:sp>
        <p:nvSpPr>
          <p:cNvPr id="416" name="Google Shape;416;p53"/>
          <p:cNvSpPr txBox="1"/>
          <p:nvPr>
            <p:ph idx="5" type="subTitle"/>
          </p:nvPr>
        </p:nvSpPr>
        <p:spPr>
          <a:xfrm>
            <a:off x="4572000" y="442625"/>
            <a:ext cx="40611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</a:t>
            </a:r>
            <a:endParaRPr/>
          </a:p>
        </p:txBody>
      </p:sp>
      <p:sp>
        <p:nvSpPr>
          <p:cNvPr id="417" name="Google Shape;417;p53"/>
          <p:cNvSpPr txBox="1"/>
          <p:nvPr>
            <p:ph idx="6" type="subTitle"/>
          </p:nvPr>
        </p:nvSpPr>
        <p:spPr>
          <a:xfrm>
            <a:off x="228600" y="1585625"/>
            <a:ext cx="40611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Question</a:t>
            </a:r>
            <a:endParaRPr/>
          </a:p>
        </p:txBody>
      </p:sp>
      <p:sp>
        <p:nvSpPr>
          <p:cNvPr id="418" name="Google Shape;418;p53"/>
          <p:cNvSpPr txBox="1"/>
          <p:nvPr>
            <p:ph idx="7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Prashil Patel</a:t>
            </a:r>
            <a:endParaRPr/>
          </a:p>
        </p:txBody>
      </p:sp>
      <p:pic>
        <p:nvPicPr>
          <p:cNvPr id="419" name="Google Shape;41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7700" y="2408375"/>
            <a:ext cx="2469700" cy="185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5" name="Google Shape;425;p54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Results and Findings</a:t>
            </a:r>
            <a:endParaRPr/>
          </a:p>
        </p:txBody>
      </p:sp>
      <p:sp>
        <p:nvSpPr>
          <p:cNvPr id="426" name="Google Shape;426;p54"/>
          <p:cNvSpPr txBox="1"/>
          <p:nvPr>
            <p:ph idx="1" type="body"/>
          </p:nvPr>
        </p:nvSpPr>
        <p:spPr>
          <a:xfrm>
            <a:off x="2294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Data was grouped and sampled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Alpha 0.05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Used a 1 sided t-test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Greater sided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Observe P-Value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54"/>
          <p:cNvSpPr txBox="1"/>
          <p:nvPr>
            <p:ph idx="2" type="subTitle"/>
          </p:nvPr>
        </p:nvSpPr>
        <p:spPr>
          <a:xfrm>
            <a:off x="2294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428" name="Google Shape;428;p54"/>
          <p:cNvSpPr txBox="1"/>
          <p:nvPr>
            <p:ph idx="3" type="body"/>
          </p:nvPr>
        </p:nvSpPr>
        <p:spPr>
          <a:xfrm>
            <a:off x="315580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b="1" lang="en" sz="1100" u="sng"/>
              <a:t>T-Test:</a:t>
            </a:r>
            <a:r>
              <a:rPr lang="en" sz="1100"/>
              <a:t> 2.521243380534123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b="1" lang="en" sz="1100" u="sng"/>
              <a:t>P-value:</a:t>
            </a:r>
            <a:r>
              <a:rPr lang="en" sz="1100"/>
              <a:t> 0.00624121392540133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54"/>
          <p:cNvSpPr txBox="1"/>
          <p:nvPr>
            <p:ph idx="4" type="subTitle"/>
          </p:nvPr>
        </p:nvSpPr>
        <p:spPr>
          <a:xfrm>
            <a:off x="315580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430" name="Google Shape;430;p54"/>
          <p:cNvSpPr txBox="1"/>
          <p:nvPr>
            <p:ph idx="5" type="body"/>
          </p:nvPr>
        </p:nvSpPr>
        <p:spPr>
          <a:xfrm>
            <a:off x="60821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b="1" lang="en" sz="1100" u="sng"/>
              <a:t>P-Value</a:t>
            </a:r>
            <a:r>
              <a:rPr lang="en" sz="1100"/>
              <a:t> is not greater than our </a:t>
            </a:r>
            <a:r>
              <a:rPr b="1" lang="en" sz="1100" u="sng"/>
              <a:t>Alpha.</a:t>
            </a:r>
            <a:endParaRPr b="1" sz="11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 sz="1100"/>
              <a:t>In favour of the alternative.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54"/>
          <p:cNvSpPr txBox="1"/>
          <p:nvPr>
            <p:ph idx="6" type="subTitle"/>
          </p:nvPr>
        </p:nvSpPr>
        <p:spPr>
          <a:xfrm>
            <a:off x="60821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</a:t>
            </a:r>
            <a:endParaRPr/>
          </a:p>
        </p:txBody>
      </p:sp>
      <p:sp>
        <p:nvSpPr>
          <p:cNvPr id="432" name="Google Shape;432;p54"/>
          <p:cNvSpPr txBox="1"/>
          <p:nvPr>
            <p:ph idx="7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Prashil Patel</a:t>
            </a:r>
            <a:endParaRPr/>
          </a:p>
        </p:txBody>
      </p:sp>
      <p:grpSp>
        <p:nvGrpSpPr>
          <p:cNvPr id="433" name="Google Shape;433;p54"/>
          <p:cNvGrpSpPr/>
          <p:nvPr/>
        </p:nvGrpSpPr>
        <p:grpSpPr>
          <a:xfrm>
            <a:off x="228600" y="1588750"/>
            <a:ext cx="2834950" cy="1459225"/>
            <a:chOff x="228600" y="1588750"/>
            <a:chExt cx="2834950" cy="1459225"/>
          </a:xfrm>
        </p:grpSpPr>
        <p:sp>
          <p:nvSpPr>
            <p:cNvPr id="434" name="Google Shape;434;p54"/>
            <p:cNvSpPr txBox="1"/>
            <p:nvPr/>
          </p:nvSpPr>
          <p:spPr>
            <a:xfrm>
              <a:off x="229450" y="1588750"/>
              <a:ext cx="2834100" cy="145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200">
                  <a:solidFill>
                    <a:schemeClr val="dk1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01</a:t>
              </a:r>
              <a:endParaRPr sz="102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435" name="Google Shape;435;p54"/>
            <p:cNvCxnSpPr/>
            <p:nvPr/>
          </p:nvCxnSpPr>
          <p:spPr>
            <a:xfrm>
              <a:off x="228600" y="3047975"/>
              <a:ext cx="2834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6" name="Google Shape;436;p54"/>
            <p:cNvCxnSpPr/>
            <p:nvPr/>
          </p:nvCxnSpPr>
          <p:spPr>
            <a:xfrm>
              <a:off x="228600" y="1687250"/>
              <a:ext cx="2834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37" name="Google Shape;437;p54"/>
          <p:cNvGrpSpPr/>
          <p:nvPr/>
        </p:nvGrpSpPr>
        <p:grpSpPr>
          <a:xfrm>
            <a:off x="3154950" y="1588750"/>
            <a:ext cx="2834100" cy="1459225"/>
            <a:chOff x="3154950" y="1588750"/>
            <a:chExt cx="2834100" cy="1459225"/>
          </a:xfrm>
        </p:grpSpPr>
        <p:sp>
          <p:nvSpPr>
            <p:cNvPr id="438" name="Google Shape;438;p54"/>
            <p:cNvSpPr txBox="1"/>
            <p:nvPr/>
          </p:nvSpPr>
          <p:spPr>
            <a:xfrm>
              <a:off x="3154950" y="1588750"/>
              <a:ext cx="2834100" cy="145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200">
                  <a:solidFill>
                    <a:schemeClr val="dk1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02</a:t>
              </a:r>
              <a:endParaRPr sz="102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439" name="Google Shape;439;p54"/>
            <p:cNvCxnSpPr/>
            <p:nvPr/>
          </p:nvCxnSpPr>
          <p:spPr>
            <a:xfrm>
              <a:off x="3154950" y="3047975"/>
              <a:ext cx="2834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0" name="Google Shape;440;p54"/>
            <p:cNvCxnSpPr/>
            <p:nvPr/>
          </p:nvCxnSpPr>
          <p:spPr>
            <a:xfrm>
              <a:off x="3154950" y="1687250"/>
              <a:ext cx="2834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41" name="Google Shape;441;p54"/>
          <p:cNvGrpSpPr/>
          <p:nvPr/>
        </p:nvGrpSpPr>
        <p:grpSpPr>
          <a:xfrm>
            <a:off x="6080450" y="1588750"/>
            <a:ext cx="2834100" cy="1459225"/>
            <a:chOff x="6080450" y="1588750"/>
            <a:chExt cx="2834100" cy="1459225"/>
          </a:xfrm>
        </p:grpSpPr>
        <p:sp>
          <p:nvSpPr>
            <p:cNvPr id="442" name="Google Shape;442;p54"/>
            <p:cNvSpPr txBox="1"/>
            <p:nvPr/>
          </p:nvSpPr>
          <p:spPr>
            <a:xfrm>
              <a:off x="6080450" y="1588750"/>
              <a:ext cx="2834100" cy="145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200">
                  <a:solidFill>
                    <a:schemeClr val="dk1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03</a:t>
              </a:r>
              <a:endParaRPr sz="102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443" name="Google Shape;443;p54"/>
            <p:cNvCxnSpPr/>
            <p:nvPr/>
          </p:nvCxnSpPr>
          <p:spPr>
            <a:xfrm>
              <a:off x="6080450" y="3047975"/>
              <a:ext cx="2834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" name="Google Shape;444;p54"/>
            <p:cNvCxnSpPr/>
            <p:nvPr/>
          </p:nvCxnSpPr>
          <p:spPr>
            <a:xfrm>
              <a:off x="6080450" y="1687250"/>
              <a:ext cx="2834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0" name="Google Shape;450;p55"/>
          <p:cNvSpPr txBox="1"/>
          <p:nvPr>
            <p:ph type="title"/>
          </p:nvPr>
        </p:nvSpPr>
        <p:spPr>
          <a:xfrm>
            <a:off x="228600" y="255450"/>
            <a:ext cx="86502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 and Wrangling</a:t>
            </a:r>
            <a:endParaRPr/>
          </a:p>
        </p:txBody>
      </p:sp>
      <p:sp>
        <p:nvSpPr>
          <p:cNvPr id="451" name="Google Shape;451;p55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Prashil Patel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2" name="Google Shape;45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75" y="925650"/>
            <a:ext cx="1905675" cy="210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8900" y="925650"/>
            <a:ext cx="190500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4250" y="925650"/>
            <a:ext cx="4772025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04250" y="2372100"/>
            <a:ext cx="4885300" cy="1133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1" name="Google Shape;461;p56"/>
          <p:cNvSpPr txBox="1"/>
          <p:nvPr>
            <p:ph type="title"/>
          </p:nvPr>
        </p:nvSpPr>
        <p:spPr>
          <a:xfrm>
            <a:off x="272700" y="164350"/>
            <a:ext cx="85986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</a:t>
            </a:r>
            <a:r>
              <a:rPr lang="en"/>
              <a:t> Data Analysis</a:t>
            </a:r>
            <a:endParaRPr/>
          </a:p>
        </p:txBody>
      </p:sp>
      <p:sp>
        <p:nvSpPr>
          <p:cNvPr id="462" name="Google Shape;462;p56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Prashil Patel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3" name="Google Shape;46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440700"/>
            <a:ext cx="2650475" cy="207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2235" y="1440697"/>
            <a:ext cx="2604478" cy="207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73078" y="1440699"/>
            <a:ext cx="3270922" cy="2071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1" name="Google Shape;471;p57"/>
          <p:cNvSpPr txBox="1"/>
          <p:nvPr>
            <p:ph idx="1" type="subTitle"/>
          </p:nvPr>
        </p:nvSpPr>
        <p:spPr>
          <a:xfrm>
            <a:off x="228600" y="164350"/>
            <a:ext cx="28203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" sz="2900" u="sng"/>
              <a:t>Conclusion</a:t>
            </a:r>
            <a:endParaRPr b="1" sz="2900" u="sng"/>
          </a:p>
        </p:txBody>
      </p:sp>
      <p:sp>
        <p:nvSpPr>
          <p:cNvPr id="472" name="Google Shape;472;p57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Prashil Patel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57"/>
          <p:cNvSpPr txBox="1"/>
          <p:nvPr>
            <p:ph idx="4" type="body"/>
          </p:nvPr>
        </p:nvSpPr>
        <p:spPr>
          <a:xfrm>
            <a:off x="228600" y="817775"/>
            <a:ext cx="2690100" cy="35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Games created between 2001-2010 have better player rated games compared to releases in 2011-2020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Companies should consider older concepts in games compared to newer games.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474" name="Google Shape;474;p57"/>
          <p:cNvPicPr preferRelativeResize="0"/>
          <p:nvPr/>
        </p:nvPicPr>
        <p:blipFill rotWithShape="1">
          <a:blip r:embed="rId3">
            <a:alphaModFix/>
          </a:blip>
          <a:srcRect b="0" l="24058" r="26325" t="0"/>
          <a:stretch/>
        </p:blipFill>
        <p:spPr>
          <a:xfrm>
            <a:off x="5809632" y="0"/>
            <a:ext cx="3334369" cy="4518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0" name="Google Shape;480;p58"/>
          <p:cNvSpPr txBox="1"/>
          <p:nvPr>
            <p:ph idx="1" type="subTitle"/>
          </p:nvPr>
        </p:nvSpPr>
        <p:spPr>
          <a:xfrm>
            <a:off x="228600" y="164350"/>
            <a:ext cx="28203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Bonus</a:t>
            </a:r>
            <a:endParaRPr/>
          </a:p>
        </p:txBody>
      </p:sp>
      <p:sp>
        <p:nvSpPr>
          <p:cNvPr id="481" name="Google Shape;481;p58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Prashil Patel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2" name="Google Shape;48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900" y="710850"/>
            <a:ext cx="3902000" cy="372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9750" y="1867488"/>
            <a:ext cx="4560302" cy="2565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0495" y="164350"/>
            <a:ext cx="1855425" cy="164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0" name="Google Shape;490;p59"/>
          <p:cNvSpPr txBox="1"/>
          <p:nvPr>
            <p:ph idx="1" type="subTitle"/>
          </p:nvPr>
        </p:nvSpPr>
        <p:spPr>
          <a:xfrm>
            <a:off x="228600" y="164350"/>
            <a:ext cx="40704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" sz="2900" u="sng"/>
              <a:t>Future Improvements</a:t>
            </a:r>
            <a:endParaRPr b="1" sz="2900" u="sng"/>
          </a:p>
        </p:txBody>
      </p:sp>
      <p:sp>
        <p:nvSpPr>
          <p:cNvPr id="491" name="Google Shape;491;p59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Prashil Patel</a:t>
            </a:r>
            <a:endParaRPr/>
          </a:p>
        </p:txBody>
      </p:sp>
      <p:sp>
        <p:nvSpPr>
          <p:cNvPr id="492" name="Google Shape;492;p59"/>
          <p:cNvSpPr txBox="1"/>
          <p:nvPr>
            <p:ph idx="4" type="body"/>
          </p:nvPr>
        </p:nvSpPr>
        <p:spPr>
          <a:xfrm>
            <a:off x="228600" y="822250"/>
            <a:ext cx="3107700" cy="29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Fill null genre values using previous iterations of the game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Fill null rating values with mean value from same genre</a:t>
            </a:r>
            <a:endParaRPr sz="1100"/>
          </a:p>
        </p:txBody>
      </p:sp>
      <p:pic>
        <p:nvPicPr>
          <p:cNvPr id="493" name="Google Shape;49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6275" y="1184600"/>
            <a:ext cx="5502900" cy="2774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rtfolio">
  <a:themeElements>
    <a:clrScheme name="Simple Light">
      <a:dk1>
        <a:srgbClr val="133817"/>
      </a:dk1>
      <a:lt1>
        <a:srgbClr val="E9EBE8"/>
      </a:lt1>
      <a:dk2>
        <a:srgbClr val="C2C7C0"/>
      </a:dk2>
      <a:lt2>
        <a:srgbClr val="EE7630"/>
      </a:lt2>
      <a:accent1>
        <a:srgbClr val="000000"/>
      </a:accent1>
      <a:accent2>
        <a:srgbClr val="931F1D"/>
      </a:accent2>
      <a:accent3>
        <a:srgbClr val="4F7CAC"/>
      </a:accent3>
      <a:accent4>
        <a:srgbClr val="C287E8"/>
      </a:accent4>
      <a:accent5>
        <a:srgbClr val="563635"/>
      </a:accent5>
      <a:accent6>
        <a:srgbClr val="63A46C"/>
      </a:accent6>
      <a:hlink>
        <a:srgbClr val="B744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